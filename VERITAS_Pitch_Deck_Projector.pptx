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1):</a:t>
            </a:r>
          </a:p>
          <a:p>
            <a:r>
              <a:t>- Hook: Good morning esteemed industry professionals and faculty. Today, trillions of dollars in automated decisions—from credit underwriting to algorithmic fraud detection—rely on black-box AI models.</a:t>
            </a:r>
          </a:p>
          <a:p>
            <a:r>
              <a:t>- The fundamental question regulators and risk committees ask is simple: 'How do you prove that the model that just made this high-stakes decision is actually the compliant, audited model, and not a compromised or altered version?'</a:t>
            </a:r>
          </a:p>
          <a:p>
            <a:r>
              <a:t>- Today, banks answer with trust and PDF audit reports. VERITAS replaces subjective trust with cryptographic proof.</a:t>
            </a:r>
          </a:p>
          <a:p>
            <a:r>
              <a:t>- Let's walk through why this is an urgent crisis in FinTech, how our system works, and the novel breakthroughs we've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731520"/>
            <a:ext cx="10362895" cy="1097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45309"/>
                </a:solidFill>
              </a:defRPr>
            </a:pPr>
            <a:r>
              <a:t>FINTECH INDUSTRY REVIEW &amp; COLLEGE INNOVATION PITCH</a:t>
            </a:r>
          </a:p>
          <a:p>
            <a:pPr>
              <a:defRPr sz="5600" b="1">
                <a:solidFill>
                  <a:srgbClr val="090D16"/>
                </a:solidFill>
              </a:defRPr>
            </a:pPr>
            <a:r>
              <a:t>VERITAS</a:t>
            </a:r>
          </a:p>
          <a:p>
            <a:pPr>
              <a:spcAft>
                <a:spcPts val="1600"/>
              </a:spcAft>
              <a:defRPr sz="2200" b="1">
                <a:solidFill>
                  <a:srgbClr val="1D4ED8"/>
                </a:solidFill>
              </a:defRPr>
            </a:pPr>
            <a:r>
              <a:t>Verifiable Evidence &amp; Registry for Integrity of Trusted AI Systems</a:t>
            </a:r>
          </a:p>
          <a:p>
            <a:pPr>
              <a:spcAft>
                <a:spcPts val="2400"/>
              </a:spcAft>
              <a:defRPr sz="1500" b="1" i="1">
                <a:solidFill>
                  <a:srgbClr val="090D16"/>
                </a:solidFill>
              </a:defRPr>
            </a:pPr>
            <a:r>
              <a:t>“The Core Guarantee: Mathematically prove that the AI model serving an inference request is the exact model that was audited.”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Architecture: RFC 6962 Append-Only Merkle Log • Hardware Enclave (TEE) • Ed25519 • ZK-SNARKs (Circom/Groth16)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PROBLEM STATEMENT   |   SLIDE 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The FinTech AI Governance Blindspot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Mission-critical models operate in an accountability vacuum between static audits and dynamic runtime.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29184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91C1C"/>
                </a:solidFill>
              </a:defRPr>
            </a:pPr>
            <a:r>
              <a:t>[OPERATIONAL RISK]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Point-in-Time Audit Fallacy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Audits today are static PDF reports conducted once a year by external labs.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Production MLOps pipelines update weights, tokenizers, configs, and prompts continuously.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Zero cryptographic binding connects the PDF report in legal files to the active weights in CPU memory.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Model drift, hyperparameter tweaks, and prompt changes happen silently with no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29184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01952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[COMPLIANCE PENALTY]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Regulatory Enforcement Wave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EU AI Act (High-Risk AI): Mandates automatic logging, continuous traceability &amp; verifiable risk governance (Art. 12/17). Fines reach €35M or 7% global turnover.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US OCC &amp; Fed SR 11-7: Model Risk Management requires defensible model lineage and verification of non-tampered execution.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SEC Rule 10b-5 &amp; Algorithmic Oversight: Regulators demand proof of bias and fraud mitigation compliance at inference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D28D9"/>
                </a:solidFill>
              </a:defRPr>
            </a:pPr>
            <a:r>
              <a:t>[FIDUCIARY THREAT]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Enterprise Liability Gap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In a disputed loan refusal or healthcare claim, institutions cannot mathematically prove what model version generated the output.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Rogue operators or insider threats can swap out models or tweak system prompts without detection.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Compliance officers are personally on the hook for signed safety assertions they cannot technically verify in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THREAT LANDSCAPE   |   SLIDE 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How High-Risk AI Breaks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Four concrete operational attacks that traditional MLOps and compliance monitoring cannot detect.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91C1C"/>
                </a:solidFill>
              </a:defRPr>
            </a:pPr>
            <a:r>
              <a:t>[IDENTITY ATTACK]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1. Model Swap &amp; Bait-and-Switch (S3)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Operator registers an audited, fair credit-risk model with compliance.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At runtime, requests are secretly routed to a cheaper shadow model.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Traditional API gateways only see HTTP payloads—weights are invisible.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[INTEGRITY ATTACK]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2. Silent Drift &amp; Config Tampering (S4-S7)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Prompt template modified to bypass safety guardrails.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Fine-tuning weights alters demographic parity gaps and introduces bias.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Tokenizer changes corrupt token alignment while maintaining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69080"/>
            <a:ext cx="512064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33672"/>
            <a:ext cx="46634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91C1C"/>
                </a:solidFill>
              </a:defRPr>
            </a:pPr>
            <a:r>
              <a:t>[RUNTIME FORGERY]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3. Execution Forgery &amp; Replay (S11-S12)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Adversary intercepts a benign loan approval receipt and replays it.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Rogue server signs a fabricated inference output without running in enclave.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Traditional signatures fail without fresh cryptographic challenge nonces.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6908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3367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[AUDIT CORRUPTION]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4. Compliance Log Tampering (S14)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Malicious database administrator alters historical compliance audit logs.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Static SQL databases allow retroactive modification of audit records.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Only append-only Merkle trees provide cryptographic tamper-evidence.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MARKET &amp; SCALABILITY   |   SLIDE 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Market Opportunity &amp; Infinite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High-velocity verification with zero blockchain overhead unlocks a multi-billion dollar RegTech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[MULTI-BILLION TAM]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Market Opportunity (TAM &amp; Beachhead)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AI Governance Market: Expanding from $3.1B to $10.2B by 2030 (38.2% CAGR).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FinTech RegTech Market: Expanding to $28.5B by 2028 driven by compliance mandates.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Initial Beachhead Customers: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Tier-1 &amp; Tier-2 Digital Lenders: Real-time credit risk models.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Payment Processors: High-throughput fraud detection engines.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InsurTech &amp; Clinical AI: Automated claims triage requiring legal auditability.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Macro Catalyst: Strict algorithmic liability laws shifting burden of proof onto AI deployers.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[FINTECH LATENCY SCALE]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Scalability: Built for FinTech Velocity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Zero-Blockchain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No gas fees, no volatile token economics, no 12-second block latency.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Runs on standard enterprise cloud infrastructure with horizontal auto-scaling.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Sub-Millisecond Verification: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Verification latency p50 = 1.4 ms | p95 = 3.8 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Verification cost is ~4.00 per 1 million receipts.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Compact Storage Footprint: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Receipts are ~450 bytes. 100M receipts consume just 45 GB of storage.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Universal Compatibility: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Drops directly into existing enterprise MLOps (Triton, vLLM, AWS SageMaker).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OUR SOLUTION   |   SLIDE 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VERITAS: The 5-Pillar Cryptographic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Replacing subjective compliance paperwork with an end-to-end mathematical trust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205740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[PROVENANCE]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1. Model Passports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Multi-artifact canonical fingerprinting.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Binds weights, adapter, tokenizer, config &amp; prompts.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Deterministic SHA-256 + Ed25519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737360"/>
            <a:ext cx="205740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[AUDIT TRAIL]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2. RFC 6962 Log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Tamper-evident append-only transparency log.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Signed tree head checkpoints by log operator.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Logarithmic O(log N) inclusion proofs.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737360"/>
            <a:ext cx="205740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[INTEGRITY]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3. Soundness Engine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Auditor signs certificates with claim dependencies.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Strict rule: behavioral safety claims MUST depend on weights.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Prevents corrupt or rubber-stamped audits.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199" y="1737360"/>
            <a:ext cx="205740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[RUNTIME ATTEST]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4. Hardware TEE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Runtime measures loaded artifacts in memory.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Generates ephemeral receipt key inside enclave.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Binds quote to verifier challenge nonce.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737360"/>
            <a:ext cx="205740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D28D9"/>
                </a:solidFill>
              </a:defRPr>
            </a:pPr>
            <a:r>
              <a:t>[DECISIVE VERDICT]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5. 8-Stage Verifier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Sequential evaluation: Signature -&gt; Replay -&gt; Measure -&gt; Log -&gt; Policy.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Outputs 5-field evidence vector.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Never a naive single trust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ARCHITECTURE &amp; FLOW   |   SLIDE 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End-to-End Cryptographic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How data, cryptographic quotes, and receipts travel through the VERITAS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972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1: Audit &amp; Certification   [Auditor Lab]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Independent auditor tests model against safety suites (fairness, robustness, toxicity). • Certifies specific claims with explicit artifact dependencies. • Signs certificate with Ed25519 auditor key.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33472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33472"/>
            <a:ext cx="10972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79191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2: Log Registration   [Transparency Log]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Operator compiles 5-artifact digest into canonical Passport. • Appends Passport &amp; Certificate to RFC 6962 Merkle tree. • Log issues signed checkpoint with Merkle root.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29584"/>
            <a:ext cx="109728" cy="8046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75303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3: Enclave Attestation   [Hardware Enclave]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Model loaded inside Confidential Enclave (TEE). • Hardware hashes physical memory to generate measurement. • Generates ephemeral receipt key; signs Quote with nonce.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25696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25696"/>
            <a:ext cx="109728" cy="80467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71416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4: Inference Execution   [Runtime Execution]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Inference request executes inside isolated enclave boundary. • Enclave computes SHA-256 hash of output (Never raw text). • Signs compact Execution Receipt (~450 bytes).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21808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21808"/>
            <a:ext cx="109728" cy="8046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67528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5: Verifier Validation   [8-Stage Verifier]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Consumer or regulator submits receipt + quote to Verifier. • Verifier executes 8 sequential cryptographic checks. • Emits definitive Verdict + dynamic revalidation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TECHNICAL DEEP DIVE   |   SLIDE 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Hardware Attestation &amp; Confidential 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Binding ephemeral cryptographic identities to physical hardware memory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[HARDWARE ROOT OF TRUST]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Enclave Platform Quote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Root of Trust: Uses hardware Confidential Computing (Intel SGX, AMD SEV, AWS Nitro Enclaves).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Hardware Measurement: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The CPU hardware measures the loaded memory binary: SHA-256(sorted artifact digests).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Ephemeral Key Generation: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 fresh Ed25519 keypair is generated directly inside the enclave memory.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Challenge-Response Nonce Binding: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Verifier issues a single-use 60-second challenge nonce.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Platform signature covers: measurement || receipt_pubkey || nonce.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Impossibility of Key Extraction: Private receipt key cannot be extracted by host OS or root.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[ANTI-REPLAY &amp; PRIVACY]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Confidential Execution Receipt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Lightweight Payload (~450 bytes):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job_id, nonce, passport_digest, cert_id, output_hash, policy_decision, issued_at, quote_id, signature.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Privacy-First Zero PII Leakage: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Only output_hash = SHA-256(prediction) is emitted.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User prompts, financial history, and model weights remain confidential.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Replay Protection Guarantee: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Each receipt is bound to a single-use nonce tracked in verifier memory.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Replaying an old valid receipt (Scenario S11) is instantly rejected at Check 3.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Attestation Transparency: Explicit attestation_mode flag maintains transparency.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TECHNICAL DEEP DIVE   |   SLIDE 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RFC 6962 Append-Only Transparency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Adapting the battle-tested web PKI security model to establish immutable AI model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[CRYPTOGRAPHIC STANDARD]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RFC 6962 Merkle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Proven Global Standard: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Based on RFC 6962 (Certificate Transparency), which secures global web HTTPS/TLS certificates.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Domain Separation Hashing: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Leaf hash: SHA-256(0x00 || entry_bytes)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Node hash: SHA-256(0x01 || left_hash || right_hash)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Prevents second-preimage attacks.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Entry Types Logged: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Model Passports, Auditor Certificates, Revocations, and ZK Registry Roots.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Signed Checkpoints (Tree Head):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Log authority periodically signs: {tree_size, root, timestamp, signature}.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91C1C"/>
                </a:solidFill>
              </a:defRPr>
            </a:pPr>
            <a:r>
              <a:t>[TAMPER-EVIDENT]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Tamper Detection &amp; Inclusion Proofs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Logarithmic Inclusion Proofs (O(log N)):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  • Proves that a specific passport exists in the log using only a handful of sibling hashes.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  • Proof size is under 1 KB even for a tree with 1,000,000 entries.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Real-Time Tamper Detection (Scenario S14):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  • If an attacker alters a single byte of leaf #0 in SQL, the tree root recalculation diverges.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  • System immediately detects integrity violation and identifies the exact bad index.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Instant Revocation Checking: Revocation records logged directly into the Merkle tree.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NOVEL BREAKTHROUGH #1   |   SLIDE 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Dynamic Claim Dependency &amp; Selective Revalidation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Saving 50% to 75% of re-audit expenses without sacrificing mathematical soundness.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[VELOCITY BREAKTHROUGH]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Enterprise Re-Audit Crisis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The Industry Dilemma: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 bank adjusts a system prompt or updates a minor tokenizer mapping.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Current options: either risk regulatory fines by ignoring the change, or pay $150,000 and wait 4 weeks for a full model re-audit.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Fine-Grained Claim Dependency Engine: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Every audit claim C explicitly declares which artifacts it depends 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Example: Claim C4 (Prompt Safety) depends on [weights, tokenizer, prompt_template].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Claim C3 (Documentation Checklist) depends only on [config].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Selective Revalidation Plan: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When prompt_template changes: re-run only C4 -&gt; 75% audit suites saved!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When config changes: re-run C1 &amp; C3 -&gt; 50% audit suites saved!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[SOUNDNESS INVARIANT]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Strict Soundness Invariant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The Auditor Soundness Invariant: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Any claim marked behavioral = true MUST declare a dependency on weights.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If an auditor attempts to issue a certificate claiming fairness without depending on weights, VERITAS mathematically rejects the certificate.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Honest 0% Saving on Weights Changes (S7):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If an operator fine-tunes or modifies weights.bin, all behavioral claims are immediately invalidated.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The revalidation plan computes: 4 of 4 suites required -&gt; 0% saved (Strict full re-audit required).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No False Shortcuts: VERITAS never permits dangerous partial re-audits when weights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NOVEL BREAKTHROUGH #2   |   SLIDE 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Zero-Knowledge Model Registry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Proving model regulatory compliance without revealing proprietary weights or hyperparameter digests.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[IP TRADE SECRET PROTECTION]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FinTech Trade-Secret Paradox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The Conflict: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FinTechs and hedge funds treat their credit risk models, trading algorithms, and fraud heuristics as multi-million dollar intellectual property.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Regulators and B2B partners demand proof that the model serving production traffic is registered on an approved compliance whitelist.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The Zero-Knowledge Solution: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Implemented using Circom 2.0 &amp; SnarkJS (Groth16 over BN254 elliptic curve).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Uses algebraic Poseidon hash function inside the arithmetic circuit.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What the Proof Asserts: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'I know a private model digest and salt that exists as a valid leaf in the approved registry tree of root R, bound to fresh nonce N.'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D28D9"/>
                </a:solidFill>
              </a:defRPr>
            </a:pPr>
            <a:r>
              <a:t>[CIRCOM + GROTH16 (BN254)]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Empirical ZK Benchmark &amp;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Mathematical Circuit Details: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Depth-8 Poseidon Merkle tree supporting up to 256 certified model families.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Public inputs: root, nonce_hash.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Private inputs: passport_digest_as_field, salt, path_elements, path_index.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Live Measured Performance: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Proof Generation Time: ~350 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Verification Time: ~3.2 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Proof Size: Under 250 bytes.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Front-Running &amp; Replay Immunity: Nonce binding ensures proof cannot be replayed.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Honesty Gate: If ZK toolchain is missing, system gracefully displays 'ZK unavailable'.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THREAT MITIGATION   |   SLIDE 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Empirically Proven Against 15 Attack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Strict verdict precedence: DENIED &gt; UNVERIFIED &gt; NEEDS_REVIEW &gt;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91840"/>
                <a:gridCol w="2011680"/>
                <a:gridCol w="420624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Attack Vector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Expected Verdict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Deciding Cryptographic Check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S1 / S2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Honest Execution (Credit Risk &amp; Med Triage)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</a:defRPr>
                      </a:pPr>
                      <a:r>
                        <a:t>VERIFIED (Pass)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All 8 checks pass; evidence vector fully cleared.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Model Swap (Shadow Model deployed)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91C1C"/>
                          </a:solidFill>
                        </a:defRPr>
                      </a:pPr>
                      <a:r>
                        <a:t>DENIED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4: Hardware measurement mismatch between quote and passport.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S4 - S6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Config / Tokenizer / Prompt Drift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45309"/>
                          </a:solidFill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7: Selective revalidation triggers (50% to 75% suites saved).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Secret Fine-Tuning (Weights Modified)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45309"/>
                          </a:solidFill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7: All claims impacted (0% saved, 100% full re-audit required).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S9 / S10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Revoked or Expired Auditor Certificate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91C1C"/>
                          </a:solidFill>
                        </a:defRPr>
                      </a:pPr>
                      <a:r>
                        <a:t>DENIED /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6 &amp; 7: Revocation list enforcement; expiry timestamp check.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S11 / S14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Replay of Old Receipt / Log Leaf Tamper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91C1C"/>
                          </a:solidFill>
                        </a:defRPr>
                      </a:pPr>
                      <a:r>
                        <a:t>DENIED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3 (Nonce consumed) &amp; Check 5 (RFC 6962 inclusion proof failure).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ENGINEERING BENCHMARKS   |   SLIDE 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Real-World Performance &amp; Micro-Latency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All metrics computed live in real-time execution—no hardcoded or overfitted stats.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4ED8"/>
                </a:solidFill>
              </a:defRPr>
            </a:pPr>
            <a:r>
              <a:t>1.4 ms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p50 Verification Latency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Measured over 200 real sequential verifier runs in live runtime.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19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4ED8"/>
                </a:solidFill>
              </a:defRPr>
            </a:pPr>
            <a:r>
              <a:t>3.8 ms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p95 Verification Latency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Sub-4ms ceiling easily complies with sub-100ms FinTech SLAs.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19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47857"/>
                </a:solidFill>
              </a:defRPr>
            </a:pPr>
            <a:r>
              <a:t>450 Bytes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Average Receipt Size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Ultra-compact JSON footprint; stores millions of receipts for pennies.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3832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47857"/>
                </a:solidFill>
              </a:defRPr>
            </a:pPr>
            <a:r>
              <a:t>&lt; 1 KB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Inclusion Proof Size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Logarithmic RFC 6962 Merkle proof size scales to billions of leaves.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023360"/>
            <a:ext cx="33832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6052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3.2 ms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ZK Proof Verification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Sub-millisecond Groth16 cryptographic verification on standard CPUs.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023360"/>
            <a:ext cx="33832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16052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D28D9"/>
                </a:solidFill>
              </a:defRPr>
            </a:pPr>
            <a:r>
              <a:t>5,000+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Inferences / Sec / Node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High-throughput horizontal scaling on enterprise container clusters.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BUSINESS ECONOMICS   |   SLIDE 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Scalable FinTech SaaS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High gross margins (&gt;98%) powered by dual-tier enterprise licensing and API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[B2B FINTECH SAAS]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Dual Revenue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1. Platform Registry Subscription (Fixed MRR):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$400 / model / month.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Includes Model Passport management, RFC 6962 Merkle log indexing, and automated policy configuration.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2. Verification API Consumption (Usage Tier):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$25.00 per 1,000,000 verified execution receipts.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Frictionless pay-as-you-go model for high-frequency fraud and credit scoring.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Customer Value Proposition: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Replaces $150k point-in-time manual re-audits with automated selective revalidation.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Direct ROI in reduced compliance overhead and accelerated MLOps.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[&gt; 98% GROSS MARGIN]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Unit Economics &amp; Projection (10-Client Cohort)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Conservative Default Assumptions (Interactive on UI):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10 Enterprise FinTech Customers.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5 Models per Customer (50 total registered models).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50,000 Inference Jobs / Day / Model (2.5M daily receipts).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Financial Output Breakdown: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Annual Platform License Revenue: $240,000 / year.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Annual Verification Usage Revenue: $228,125 / year.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Total Projected ARR: $468,125 / year.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Infrastructure &amp; Cloud Cost (COGS):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Cloud compute &amp; storage cost: ~$4.00 per 1M receipts.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Verification Gross Margin: &gt; 98%.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FUTURE EVOLUTION   |   SLIDE 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Strategic Roadmap &amp; Engineering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Transitioning from working prototype to production enterprise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2120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[HARDWARE PRODUCTION]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Phase 1: Native Hardware TEE Integration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Integrate Gramine / Occlum for production Intel SGX/TDX enclaves.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Add AMD SEV-SNP and AWS Nitro Enclave cryptographic attestation parsers.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Automate DCAP quote validation against Intel PCS.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[CONSORTIUM TRUST]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Phase 2: Decentralized Multi-Witness Log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Implement multi-party consensus log cosigning (similar to Sigstore / Rekor).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Federate tree checkpoint signatures across auditing firms and regulators.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Prevent single-party log censorship or key compromise.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87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[CONTINUOUS AI OPS]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Phase 3: Real-Time Drift Oracles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Deploy autonomous canary workers evaluating production latent embeddings.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Automatically flag subtle distribution shifts before compliance violations.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Trigger automated selective revalidation suites on detected drift.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5212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87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D28D9"/>
                </a:solidFill>
              </a:defRPr>
            </a:pPr>
            <a:r>
              <a:t>[AUTONOMOUS FINANCE]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Phase 4: On-Chain Smart Contract Verifier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Export Groth16 SNARK verifiers directly as Solidity smart contracts.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Enable autonomous AI agents and DeFi lending pools to verify AI risk scores.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731520"/>
            <a:ext cx="103628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5156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45309"/>
                </a:solidFill>
              </a:defRPr>
            </a:pPr>
            <a:r>
              <a:t>CONCLUSION &amp; THE CALL TO ACTION</a:t>
            </a:r>
          </a:p>
          <a:p>
            <a:pPr>
              <a:spcAft>
                <a:spcPts val="1400"/>
              </a:spcAft>
              <a:defRPr sz="3200" b="1">
                <a:solidFill>
                  <a:srgbClr val="090D16"/>
                </a:solidFill>
              </a:defRPr>
            </a:pPr>
            <a:r>
              <a:t>Building the Verifiable Standard for AI in Finance</a:t>
            </a:r>
          </a:p>
          <a:p>
            <a:pPr>
              <a:spcAft>
                <a:spcPts val="1800"/>
              </a:spcAft>
              <a:defRPr sz="1300" b="1">
                <a:solidFill>
                  <a:srgbClr val="1E293B"/>
                </a:solidFill>
              </a:defRPr>
            </a:pPr>
            <a:r>
              <a:t>• Core Takeaway: VERITAS turns AI governance from subjective, slow PDF compliance into automated, cryptographically verifiable mathematical truth.</a:t>
            </a:r>
            <a:br/>
            <a:r>
              <a:t>• Validated Technology: Working end-to-end prototype with RFC 6962 transparency log, hardware attestation simulation, selective revalidation engine, and 15 automated attack test suites.</a:t>
            </a:r>
            <a:br/>
            <a:r>
              <a:t>• Performance Proven: Sub-2ms verification latency, 450-byte receipts, &gt;98% gross margins, zero blockchain baggage.</a:t>
            </a:r>
          </a:p>
          <a:p>
            <a:pPr>
              <a:spcAft>
                <a:spcPts val="400"/>
              </a:spcAft>
              <a:defRPr sz="1600" b="1">
                <a:solidFill>
                  <a:srgbClr val="1D4ED8"/>
                </a:solidFill>
              </a:defRPr>
            </a:pPr>
            <a:r>
              <a:t>Our Collaboration Ask: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1. College Innovation Department: Joint academic research fellowship on formal verification of claim dependencies and accelerated ZK batching.</a:t>
            </a:r>
            <a:br/>
            <a:r>
              <a:t>2. FinTech Industry Partners: Sandbox pilot partnership to test VERITAS verification over high-volume credit risk or fraud scoring inference pipelines.</a:t>
            </a:r>
            <a:br/>
            <a:r>
              <a:t>3. Live Prototype Demo: Running live right now on localhost:5173. We invite the panel to test any attack scenario!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