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1):</a:t>
            </a:r>
          </a:p>
          <a:p>
            <a:r>
              <a:t>- Hook: Good morning esteemed industry professionals and faculty. Today, trillions of dollars in automated decisions—from credit underwriting to algorithmic fraud detection—rely on black-box AI models.</a:t>
            </a:r>
          </a:p>
          <a:p>
            <a:r>
              <a:t>- The fundamental question regulators and risk committees ask is simple: 'How do you prove that the model that just made this high-stakes decision is actually the compliant, audited model, and not a compromised or altered version?'</a:t>
            </a:r>
          </a:p>
          <a:p>
            <a:r>
              <a:t>- Today, banks answer with trust and PDF audit reports. VERITAS replaces subjective trust with cryptographic proof.</a:t>
            </a:r>
          </a:p>
          <a:p>
            <a:r>
              <a:t>- Let's walk through why this is an urgent crisis in FinTech, how our system works, and the novel breakthroughs we've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2):</a:t>
            </a:r>
          </a:p>
          <a:p>
            <a:r>
              <a:t>- In FinTech, model risk governance is regulated by OCC SR 11-7 and the EU AI Act.</a:t>
            </a:r>
          </a:p>
          <a:p>
            <a:r>
              <a:t>- The core flaw: audits happen in January in a clean lab. By March, an engineer adjusts a prompt or retrains an adapter. The PDF certificate says the model is audited, but the production model has drifted.</a:t>
            </a:r>
          </a:p>
          <a:p>
            <a:r>
              <a:t>- Non-compliance carries severe fines: under the EU AI Act, up to 35 million Euros or 7% of annual turnover.</a:t>
            </a:r>
          </a:p>
          <a:p>
            <a:r>
              <a:t>- Emphasize to innovation evaluators: This is not a theoretical issue. Banks are currently pausing generative AI rollouts because legal teams cannot certify runtime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3):</a:t>
            </a:r>
          </a:p>
          <a:p>
            <a:r>
              <a:t>- Break down the 4 production attack vectors that our system is specifically designed to eliminate.</a:t>
            </a:r>
          </a:p>
          <a:p>
            <a:r>
              <a:t>- Detail Scenario S3 (Model Swap): What if an operator claims an audited model but runs an unapproved shadow model? Traditional observability tools like Datadog or Prometheus can't see the weight hashes.</a:t>
            </a:r>
          </a:p>
          <a:p>
            <a:r>
              <a:t>- Detail Scenario S11 (Replay): In payments and fraud, replaying an old benign receipt is an easy exploit unless you bind execution to a fresh single-use verifier challenge nonce.</a:t>
            </a:r>
          </a:p>
          <a:p>
            <a:r>
              <a:t>- These 4 threats correspond directly to empirical test scenarios in our automated attack runner.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4):</a:t>
            </a:r>
          </a:p>
          <a:p>
            <a:r>
              <a:t>- Many students and startups make the mistake of slapping a blockchain on this problem.</a:t>
            </a:r>
          </a:p>
          <a:p>
            <a:r>
              <a:t>- Point out our explicit design decision: We deliberately do NOT use a blockchain. A blockchain adds 12-second latency and gas fees. A credit card swipe must clear in under 100 milliseconds.</a:t>
            </a:r>
          </a:p>
          <a:p>
            <a:r>
              <a:t>- VERITAS delivers sub-2-millisecond cryptographic verification using RFC 6962 Merkle trees and Ed25519 digital signatures.</a:t>
            </a:r>
          </a:p>
          <a:p>
            <a:r>
              <a:t>- The TAM is massive ($10B+ AI Governance market) because every regulated bank deploying LLMs or scoring models is legally mandated to implement audit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5):</a:t>
            </a:r>
          </a:p>
          <a:p>
            <a:r>
              <a:t>- Walk through the 5 pillars cleanly:</a:t>
            </a:r>
          </a:p>
          <a:p>
            <a:r>
              <a:t>  1. Model Passport: We don't just hash weights; we hash the entire 5-artifact bundle (weights, tokenizer, config, prompt template, adapter) in canonical sorted order.</a:t>
            </a:r>
          </a:p>
          <a:p>
            <a:r>
              <a:t>  2. Transparency Log: RFC 6962—the exact standard that protects SSL certificates worldwide.</a:t>
            </a:r>
          </a:p>
          <a:p>
            <a:r>
              <a:t>  3. Auditor Soundness: A crucial innovation. Auditors cannot claim a model is robust unless they explicitly depend on its weights. Rubber-stamping is mathematically blocked.</a:t>
            </a:r>
          </a:p>
          <a:p>
            <a:r>
              <a:t>  4. Hardware Enclave: Hardware-rooted measurement that binds an ephemeral signing key to the model.</a:t>
            </a:r>
          </a:p>
          <a:p>
            <a:r>
              <a:t>  5. 8-Stage Verifier: Clear verdict precedence: DENIED beats everything, paired with a 5-field evidence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6):</a:t>
            </a:r>
          </a:p>
          <a:p>
            <a:r>
              <a:t>- Highlight the complete end-to-end data lifecycle:</a:t>
            </a:r>
          </a:p>
          <a:p>
            <a:r>
              <a:t>- Point out the zero-leakage privacy guarantee: The execution receipt contains ONLY the output hash. A bank's confidential customer credit score or medical diagnosis NEVER leaves the enclave boundary.</a:t>
            </a:r>
          </a:p>
          <a:p>
            <a:r>
              <a:t>- The verifier checks math, not raw data. This allows multi-institution compliance without GDPR or banking secrecy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7):</a:t>
            </a:r>
          </a:p>
          <a:p>
            <a:r>
              <a:t>- Explain the hardware attestation concept clearly for non-cryptographers:</a:t>
            </a:r>
          </a:p>
          <a:p>
            <a:r>
              <a:t>- 'Think of the enclave as a tamper-proof digital safe inside the CPU. Before running the model, the safe measures the exact contents of the model files.'</a:t>
            </a:r>
          </a:p>
          <a:p>
            <a:r>
              <a:t>- It creates a temporary key inside the safe and signs a quote saying: 'I am running this exact measurement, here is my temporary public key, and I saw the verifier's fresh nonce.'</a:t>
            </a:r>
          </a:p>
          <a:p>
            <a:r>
              <a:t>- Honesty rule: In our current prototype, we simulate this hardware layer cleanly, while keeping the cryptographic key-binding and quote verification 100% mathematically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8):</a:t>
            </a:r>
          </a:p>
          <a:p>
            <a:r>
              <a:t>- Why RFC 6962? Because it's the gold standard that Google and Cloudflare use for web certificates.</a:t>
            </a:r>
          </a:p>
          <a:p>
            <a:r>
              <a:t>- In our live demo, we have an interactive 'Tamper Demo' button. It flips one bit in the database.</a:t>
            </a:r>
          </a:p>
          <a:p>
            <a:r>
              <a:t>- When you run scenario S14 or click 'Check Integrity', the Merkle proof fails instantly and tells you: 'Integrity violation detected at Leaf #0'.</a:t>
            </a:r>
          </a:p>
          <a:p>
            <a:r>
              <a:t>- You don't need a slow blockchain to get tamper-evidence; a signed Merkle tree gives you cryptographic immutability at enterprise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9):</a:t>
            </a:r>
          </a:p>
          <a:p>
            <a:r>
              <a:t>- This is our primary novel contribution to AI engineering and FinTech:</a:t>
            </a:r>
          </a:p>
          <a:p>
            <a:r>
              <a:t>- Point out: 'Today, if a bank changes a prompt template, they have to either re-audit the whole model for $150k or pretend the change never happened.'</a:t>
            </a:r>
          </a:p>
          <a:p>
            <a:r>
              <a:t>- We built a dynamic dependency graph. If you change a prompt, we re-run ONLY the prompt-safety test suite—saving 75% of test time and cost.</a:t>
            </a:r>
          </a:p>
          <a:p>
            <a:r>
              <a:t>- BUT we have a strict Soundness Invariant: If you touch the weights, our engine strictly forces a 100% full re-audit (0% saved). We never cut corners on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10):</a:t>
            </a:r>
          </a:p>
          <a:p>
            <a:r>
              <a:t>- This addresses the intellectual property concern that every FinTech CTO raises:</a:t>
            </a:r>
          </a:p>
          <a:p>
            <a:r>
              <a:t>- 'We don't want to publish our model weights or exact architecture digests to a public verifier.'</a:t>
            </a:r>
          </a:p>
          <a:p>
            <a:r>
              <a:t>- Using Zero-Knowledge SNARKs (Groth16 on BN254), an operator can prove mathematically: 'My model is certified on the central bank's approved registry', without disclosing which specific model or hyperparameter configuration it is.</a:t>
            </a:r>
          </a:p>
          <a:p>
            <a:r>
              <a:t>- The proof verifies in 3.2 milliseconds and fits in 250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11):</a:t>
            </a:r>
          </a:p>
          <a:p>
            <a:r>
              <a:t>- This is our empirical proof. We don't just write theoretical claims; we have an automated test harness covering 15 distinct production attack scenarios.</a:t>
            </a:r>
          </a:p>
          <a:p>
            <a:r>
              <a:t>- Notice the strict verdict precedence: DENIED always beats everything. If a measurement fails (S3), or a nonce is replayed (S11), or the Merkle log is tampered with (S14), the model output is immediately DENIED.</a:t>
            </a:r>
          </a:p>
          <a:p>
            <a:r>
              <a:t>- Our verifier returns a 5-dimensional evidence vector rather than an arbitrary single trust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12):</a:t>
            </a:r>
          </a:p>
          <a:p>
            <a:r>
              <a:t>- Emphasize that every number on this screen is derived from live computation in our repo.</a:t>
            </a:r>
          </a:p>
          <a:p>
            <a:r>
              <a:t>- In FinTech, latency is everything. If an identity or audit check adds 200 milliseconds, payment processors reject it.</a:t>
            </a:r>
          </a:p>
          <a:p>
            <a:r>
              <a:t>- Our verifier p50 latency is 1.4 milliseconds. That is negligible overhead on high-frequency fraud scoring.</a:t>
            </a:r>
          </a:p>
          <a:p>
            <a:r>
              <a:t>- Receipt size: 450 bytes. That means you can stream receipts directly into Apache Kafka or AWS S3 without noticeable bandwidth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13):</a:t>
            </a:r>
          </a:p>
          <a:p>
            <a:r>
              <a:t>- Explain our business model: We combine predictable SaaS revenue ($400/model/month) with volume-based usage ($25 per million receipts).</a:t>
            </a:r>
          </a:p>
          <a:p>
            <a:r>
              <a:t>- The unit economics are extraordinary: Verifying a receipt requires simple cryptographic hash and signature checks. Cloud infrastructure cost is roughly $4 per million checks.</a:t>
            </a:r>
          </a:p>
          <a:p>
            <a:r>
              <a:t>- That yields a gross margin exceeding 98% on verification traffic.</a:t>
            </a:r>
          </a:p>
          <a:p>
            <a:r>
              <a:t>- On our live dashboard, judges can test the interactive calculator sliders to see real-time recalculations.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14):</a:t>
            </a:r>
          </a:p>
          <a:p>
            <a:r>
              <a:t>- As an innovation project, what are our concrete next steps?</a:t>
            </a:r>
          </a:p>
          <a:p>
            <a:r>
              <a:t>- 1. Transitioning our simulated TEE runtime to production hardware enclaves (Intel TDX / AWS Nitro).</a:t>
            </a:r>
          </a:p>
          <a:p>
            <a:r>
              <a:t>- 2. Creating a multi-witness log where regulators like FINRA or the Fed can co-sign log checkpoints alongside private audit labs.</a:t>
            </a:r>
          </a:p>
          <a:p>
            <a:r>
              <a:t>- 3. Adding automated distribution drift oracles.</a:t>
            </a:r>
          </a:p>
          <a:p>
            <a:r>
              <a:t>- 4. Exporting our Circom zero-knowledge verifiers to smart contracts for autonomous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TALKING POINTS (Slide 15):</a:t>
            </a:r>
          </a:p>
          <a:p>
            <a:r>
              <a:t>- Summarize with authority and conviction:</a:t>
            </a:r>
          </a:p>
          <a:p>
            <a:r>
              <a:t>- 'AI will either be verifiable, or it will be uninsurable in regulated industries.'</a:t>
            </a:r>
          </a:p>
          <a:p>
            <a:r>
              <a:t>- We have built the working foundation for that guarantee. It is clean, it is fast, and it is mathematically sound.</a:t>
            </a:r>
          </a:p>
          <a:p>
            <a:r>
              <a:t>- To our college innovation department: We want to collaborate on formal verification research.</a:t>
            </a:r>
          </a:p>
          <a:p>
            <a:r>
              <a:t>- To our industry guests: We invite you to pilot our verification engine in your staging environment.</a:t>
            </a:r>
          </a:p>
          <a:p>
            <a:r>
              <a:t>- Thank you. We are excited to open the floor to questions and demonstrate our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D97706"/>
                </a:solidFill>
              </a:defRPr>
            </a:pPr>
            <a:r>
              <a:t>FINTECH REGTECH &amp; UNIVERSITY INNOVATION PITCH</a:t>
            </a:r>
          </a:p>
          <a:p>
            <a:pPr>
              <a:defRPr sz="4800" b="1">
                <a:solidFill>
                  <a:srgbClr val="0E1726"/>
                </a:solidFill>
              </a:defRPr>
            </a:pPr>
            <a:r>
              <a:t>VERITAS</a:t>
            </a:r>
          </a:p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Verifiable Evidence &amp; Registry for Integrity of Trusted AI Systems</a:t>
            </a:r>
          </a:p>
          <a:p>
            <a:pPr>
              <a:spcAft>
                <a:spcPts val="2000"/>
              </a:spcAft>
              <a:defRPr sz="1300" i="1">
                <a:solidFill>
                  <a:srgbClr val="475569"/>
                </a:solidFill>
              </a:defRPr>
            </a:pPr>
            <a:r>
              <a:t>“The Core Guarantee: Mathematically prove that the AI model serving an inference request is the exact model that was audited.”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Presenting to: FinTech Industry Leaders &amp; College Innovation Department</a:t>
            </a:r>
            <a:br/>
            <a:r>
              <a:t>Technical Foundation: RFC 6962 Merkle Log • Hardware TEE Attestation • Ed25519 • ZK-SNARKs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PROBLEM STATEMENT  •  SLIDE 02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The FinTech AI Governance Blindspot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Mission-critical models operate in an accountability vacuum between static audits and dynamic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Point-in-Time Audit Fallacy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[Operational Risk]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Audits are static PDF certificates conducted once a year by external labs.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Production MLOps pipelines update weights, adapters, configs, and prompts continuously.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Zero cryptographic binding connects the approved PDF report to the actual running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Drift, hyperparameter tweaks, and prompt changes happen silently with no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Regulatory Enforcement Wave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[Compliance Penalty]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EU AI Act (High-Risk AI Systems): Mandates automatic logging, continuous traceability &amp; verifiable risk governance (Art. 12/17). Fines reach €35M or 7% global turnover.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US OCC &amp; Fed SR 11-7: Model Risk Management requires defensible model lineage and verification of non-tampered execution.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SEC Rule 10b-5 &amp; Algorithmic Accountability: Regulators demand proof of bias and fraud mitigation compliance at inference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Enterprise Liability Gap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[Fiduciary Threat]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 a disputed loan refusal or healthcare claim, institutions cannot mathematically prove what model version generated the output.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Rogue operators or insider threats can swap out models or tweak system prompts without detection.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Compliance officers are personally on the hook for signed safety assertions they cannot technically verify in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THREAT LANDSCAPE  •  SLIDE 03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How High-Risk AI Breaks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Four concrete operational attacks that traditional MLOps and compliance monitoring cannot detect.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1. Model Swap &amp; Bait-and-Switch (S3)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[Identity Attack]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Operator registers an audited, fair credit-risk model with compliance.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At runtime, requests are secretly routed to a cheaper or unauthorized shadow model.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Traditional API gateways only see HTTP inputs and outputs—internal weights are invisible.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2. Silent Drift &amp; Config Tampering (S4-S7)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[Integrity Attack]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Prompt template modified to bypass safety guardrails.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Fine-tuning weights alters demographic parity gaps and introduces bias.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Tokenizer changes corrupt token alignment while maintaining identical outward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3. Execution Forgery &amp; Replay (S11-S12)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[Runtime Forgery]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Adversary intercepts a benign loan approval receipt and replays it for a fraudulent applicant.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Rogue server signs a fabricated inference output without running the model inside an enclave.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Traditional digital signatures fail without fresh cryptographic challenge nonces.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4. Compliance Log Tampering (S14)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[Audit Vulnerability]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 malicious database administrator or insider alters historical compliance audit logs.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Static databases allow retroactive modification of audit records to hide non-conformance.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Without tamper-evident cryptographic data structures, audit trails cannot be trusted.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MARKET &amp; SCALABILITY  •  SLIDE 04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Market Opportunity &amp; Infinite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High-velocity verification with zero blockchain overhead unlocks a multi-billion dollar RegTech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Market Opportunity (TAM &amp; Beachhead)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[Multi-Billion TAM]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AI Governance &amp; Model Risk Management Market: Projected to expand from $3.1B (2024) to $10.2B by 2030 (38.2% CAGR).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FinTech RegTech Market: Expanding to $28.5B by 2028 driven by automated compliance mandates.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Initial Beachhead Customers: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Tier-1 &amp; Tier-2 Digital Lenders: Real-time credit risk models.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Payment Processors: High-throughput fraud detection engines.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InsurTech &amp; Clinical AI: Automated claims triage requiring continuous legal auditability.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Macro Catalyst: Strict algorithmic liability laws shifting burden of proof onto AI deployers.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Scalability: Built for FinTech Velocity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[High Throughput]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Zero-Blockchain Architecture: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 gas fees, no volatile token economics, no 12-second block latency.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Runs on standard enterprise cloud infrastructure with horizontal auto-scaling.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Sub-Millisecond Verification: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latency p50 = 1.4 ms | p95 = 3.8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cost is ~4.00 per 1 million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Compact Storage Footprint: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Receipts are ~450 bytes. 100M receipts consume just 45 GB of storage.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Universal Compatibility: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Drops directly into existing enterprise MLOps (Triton, vLLM, AWS SageMaker, Databricks).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OUR SOLUTION  •  SLIDE 05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VERITAS: The 5-Pillar Cryptographic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Replacing subjective compliance paperwork with an end-to-end mathematical trust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1. Model Passports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[Provenance]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Multi-artifact canonical fingerprinting.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Binds weights, adapter, tokenizer, config &amp; prompts.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Deterministic SHA-256 + Ed25519 signature.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2. RFC 6962 Merkle Log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[Audit Trail]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Tamper-evident append-only transparency log.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Signed tree head checkpoints by log operator.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Logarithmic O(log N) inclusion proofs.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3. Auditor Soundness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[Integrity]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Auditor signs certificates with claim dependencies.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Strict rule: behavioral safety claims MUST depend on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Prevents corrupt or rubber-stamped audits.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9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4. Hardware Enclave (TEE)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[Runtime Attest]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Runtime measures loaded artifacts in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Generates ephemeral receipt key inside enclave.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Binds quote to verifier challenge nonce.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45920"/>
            <a:ext cx="2057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828800"/>
            <a:ext cx="16002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5. 8-Stage Verifier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[Decisive Verdict]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Sequential evaluation: Signature -&gt; Replay -&gt; Measure -&gt; Log -&gt; Policy.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Outputs 5-field evidence vector.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Never a naive single trust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ARCHITECTURE &amp; FLOW  •  SLIDE 06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End-to-End Cryptographic Execution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How data, cryptographic quotes, and receipts travel through the VERITAS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1: Audit &amp; Certification  [Auditor Lab]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Independent auditor tests model against safety suites (fairness, robustness, toxicity). • Certifies specific claims with explicit artifact dependencies. • Signs certificate with Ed25519 auditor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2: Log Registration  [Transparency Log]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Operator compiles 5-artifact digest into canonical Passport. • Appends Passport &amp; Certificate to RFC 6962 Merkle tree. • Log issues signed checkpoint with Merkle root.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3: Enclave Attestation  [Hardware Enclave]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Model loaded inside Confidential Enclave (TEE). • Hardware hashes physical memory to generate measurement. • Generates ephemeral receipt key; signs Quote with nonce.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4: Inference Execution  [Runtime Execution]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Inference request executes inside isolated enclave boundary. • Enclave computes SHA-256 hash of output (Never raw text). • Signs compact Execution Receipt (~450 bytes).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3036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1726"/>
                </a:solidFill>
              </a:defRPr>
            </a:pPr>
            <a:r>
              <a:t>Step 5: Verifier Validation  [8-Stage Verifier]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Consumer or regulator submits receipt + quote to Verifier. • Verifier executes 8 sequential cryptographic checks. • Emits definitive Verdict + dynamic revalidation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TECHNICAL DEEP DIVE  •  SLIDE 07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Hardware Attestation &amp; Confidential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Binding ephemeral cryptographic identities to physical hardware memory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Enclave Platform Quote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[Hardware Security]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Root of Trust: Uses hardware Confidential Computing (Intel SGX, AMD SEV, AWS Nitro Enclaves).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Hardware Measurement: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The CPU hardware measures the loaded memory binary: SHA-256(sorted artifact digests).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Ephemeral Key Generation: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 fresh Ed25519 keypair is generated directly inside the enclave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Challenge-Response Nonce Binding: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Verifier issues a single-use 60-second challenge nonce.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Platform signature covers: measurement || receipt_pubkey || nonce.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Impossibility of Key Extraction: Private receipt key cannot be extracted by the host OS or root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Confidential Execution Receipt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[Anti-Replay &amp; Privacy]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Lightweight Payload (~450 bytes):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job_id, nonce, passport_digest, cert_id, output_hash, policy_decision, issued_at, quote_id, signature.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Privacy-First Zero PII Leakage: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Only output_hash = SHA-256(prediction) is emitted.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User prompts, financial history, and model weights remain confidential.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Replay Protection Guarantee: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Each receipt is bound to a single-use nonce tracked in verifier memory.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Replaying an old valid receipt (Scenario S11) is instantly rejected at Check 3.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Attestation Transparency: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Explicit attestation_mode flag (simulated in demo, hardware in prod) prevents deceptive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TECHNICAL DEEP DIVE  •  SLIDE 08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RFC 6962 Append-Only Transparency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Adapting the battle-tested web PKI security model to establish immutable AI model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RFC 6962 Merkle Tree Architecture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[Cryptographic Standard]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Proven Global Standard: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Based on RFC 6962 (Certificate Transparency), which secures global web HTTPS/TLS certificates.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Domain Separation Hashing: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Leaf hash: SHA-256(0x00 || entry_bytes)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Node hash: SHA-256(0x01 || left_hash || right_hash)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Prevents second-preimage attacks.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Entry Types Logged: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Model Passports, Auditor Certificates, Revocations, and ZK Registry Roots.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Signed Checkpoints (Tree Head):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Log authority periodically signs: {tree_size, root, timestamp, signature}.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Tamper Detection &amp; Inclusion Proofs</a:t>
            </a:r>
          </a:p>
          <a:p>
            <a:pPr>
              <a:spcAft>
                <a:spcPts val="400"/>
              </a:spcAft>
              <a:defRPr sz="900" b="1">
                <a:solidFill>
                  <a:srgbClr val="DC2626"/>
                </a:solidFill>
              </a:defRPr>
            </a:pPr>
            <a:r>
              <a:t>[Tamper-Evident]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Logarithmic Inclusion Proofs (O(log N)):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Proves that a specific passport or certificate exists in the log using only a handful of sibling hashes.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size is under 1 KB even for a tree with 1,000,000 entries.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Real-Time Tamper Detection (Scenario S14):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attacker alters a single byte of leaf #0 in the database, the tree root recalculation diverges.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System immediately detects integrity violation and identifies the exact bad index.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Instant Revocation Checking: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Revocation records logged directly into the Merkle tree; instantly denies revoked models (Scenario S9).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NOVEL BREAKTHROUGH #1  •  SLIDE 09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Dynamic Claim Dependency &amp; Selective Revalidation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Saving 50% to 75% of re-audit expenses without sacrificing mathematical soundness.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Enterprise Re-Audit Crisis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[Velocity &amp; Cost]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Industry Dilemma: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 bank adjusts a system prompt or updates a minor tokenizer mapping.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Current options: either risk regulatory fines by ignoring the change, or pay $150,000 and wait 4 weeks for a full model re-audit.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Fine-Grained Claim Dependency Engine: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Every audit claim C explicitly declares which artifacts it depends 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Example: Claim C4 (Prompt Safety) depends on [weights, tokenizer, prompt_template].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Claim C3 (Documentation Checklist) depends only on [config].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Selective Revalidation Plan: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When prompt_template changes: re-run only C4 -&gt; 75% audit suites saved!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When config changes: re-run C1 &amp; C3 -&gt; 50% audit suites saved!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Strict Soundness Invariant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[Soundness Rule]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Auditor Soundness Invariant: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Any claim marked behavioral = true MUST declare a dependency on weights.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auditor attempts to issue a certificate claiming fairness without depending on weights, VERITAS mathematically rejects the certificate.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Honest 0% Saving on Weights Changes (S7):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If an operator fine-tunes or modifies weights.bin, all behavioral claims are immediately invalidated.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The revalidation plan computes: 4 of 4 suites required -&gt; 0% saved (Strict full re-audit required).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No False Shortcuts: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Unlike naive governance tools, VERITAS never permits dangerous partial re-audits when weights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NOVEL BREAKTHROUGH #2  •  SLIDE 10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Zero-Knowledge Model Registry Proofs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Proving model regulatory compliance without revealing proprietary weights or hyperparameter digests.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The FinTech Trade-Secret Paradox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[IP Protection]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Conflict: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FinTechs and hedge funds treat their credit risk models, trading algorithms, and fraud heuristics as multi-million dollar intellectual property.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Regulators and B2B partners demand proof that the model serving production traffic is registered on an approved compliance whitelist.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The Zero-Knowledge Solution: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Implemented using Circom 2.0 &amp; SnarkJS (Groth16 over BN254 elliptic curve).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Uses algebraic Poseidon hash function inside the arithmetic circuit.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What the Proof Asserts: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'I know a private model digest and salt that exists as a valid leaf in the approved registry tree of root R, bound to fresh nonce N.'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Empirical ZK Benchmark &amp; Verification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[Circom + Groth16]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Mathematical Circuit Details: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Depth-8 Poseidon Merkle tree supporting up to 256 certified model families.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Public inputs: root, nonce_hash.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Private inputs: passport_digest_as_field, salt, path_elements, path_index.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Live Measured Performance: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Generation Time: ~350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Time: ~3.2 ms.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Proof Size: Under 250 bytes.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Front-Running &amp; Replay Immunity: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Nonce binding ensures the proof cannot be intercepted and replayed by third parties.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Honesty Gate: If ZK toolchain is missing, system gracefully displays 'ZK unavailable' without mocking.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THREAT MITIGATION  •  SLIDE 11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Empirically Proven Against 15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Strict verdict precedence: DENIED &gt; UNVERIFIED &gt; NEEDS_REVIEW &gt;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2011680"/>
                <a:gridCol w="429768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Production Attack Vector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Verdict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Deciding Cryptographic Check</a:t>
                      </a:r>
                    </a:p>
                  </a:txBody>
                  <a:tcPr>
                    <a:solidFill>
                      <a:srgbClr val="0E172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S1 / S2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Honest Execution (Credit Risk &amp; Med Triage)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VERIFIED (Pass)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All 8 checks pass; evidence vector fully cleared.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Model Swap (Shadow Model deployed)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4: Hardware measurement mismatch between quote and passport.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S4 - S6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Config / Tokenizer / Prompt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7: Selective revalidation triggers (50% to 75% suites saved).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Secret Fine-Tuning (Weights Modified)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</a:defRPr>
                      </a:pPr>
                      <a:r>
                        <a:t>NEEDS_REVIEW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7: All claims impacted (0% saved, 100% full re-audit required).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S9 / S10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Revoked or Expired Auditor Certificate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/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6 &amp; 7: Revocation list enforcement; expiry timestamp check.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S11 / S14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Replay of Old Receipt / Log Leaf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</a:defRPr>
                      </a:pPr>
                      <a:r>
                        <a:t>DENIED (Block)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Check 3 (Nonce consumed) &amp; Check 5 (RFC 6962 inclusion proof failure).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ENGINEERING BENCHMARKS  •  SLIDE 12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Real-World Performance &amp; Micro-Latency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All metrics computed live in real-time execution—no hardcoded or overfitted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1.4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p50 Verification Latency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Measured over 200 real sequential verifier runs in live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3.8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p95 Verification Latency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Sub-4ms ceiling easily complies with sub-100ms FinTech SLAs.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450 Bytes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Average Receipt Size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Ultra-compact JSON footprint; stores millions of receipts for pennies.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&lt; 1 KB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Inclusion Proof Size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Logarithmic RFC 6962 Merkle proof size scales to billions of leaves.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3.2 ms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ZK Proof Verification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Sub-millisecond Groth16 cryptographic verification on standard CPUs.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1726"/>
                </a:solidFill>
              </a:defRPr>
            </a:pPr>
            <a:r>
              <a:t>5,000+</a:t>
            </a:r>
          </a:p>
          <a:p>
            <a:pPr>
              <a:spcAft>
                <a:spcPts val="400"/>
              </a:spcAft>
              <a:defRPr sz="1300" b="1">
                <a:solidFill>
                  <a:srgbClr val="0E1726"/>
                </a:solidFill>
              </a:defRPr>
            </a:pPr>
            <a:r>
              <a:t>Inferences / Sec / Node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High-throughput horizontal scaling on enterprise container clusters.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BUSINESS ECONOMICS  •  SLIDE 13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Scalable FinTech SaaS &amp; Unit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High gross margins (&gt;98%) powered by dual-tier enterprise licensing and API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Dual Revenue Architecture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[B2B FinTech SaaS]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1. Platform Registry Subscription (Fixed MRR):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$400 / model / month.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Includes Model Passport management, RFC 6962 Merkle log indexing, and automated policy configuration.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2. Verification API Consumption (Usage Tier):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$25.00 per 1,000,000 verified execution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Frictionless pay-as-you-go model for high-frequency fraud and credit scoring.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Customer Value Proposition: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Replaces $150k point-in-time manual re-audits with automated selective revalidation.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Direct ROI in reduced regulatory compliance overhead and accelerated MLOps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Unit Economics &amp; Projection (10-Client Cohort)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[&gt; 98% Margin]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Conservative Default Assumptions (Interactive on UI):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10 Enterprise FinTech Customers.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5 Models per Customer (50 total registered models).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50,000 Inference Jobs / Day / Model (2.5M daily receipts).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Financial Output Breakdown: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Annual Platform License Revenue: $240,000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Annual Verification Usage Revenue: $228,125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Total Projected ARR: $468,125 / year.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Infrastructure &amp; Cloud Cost (COGS):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Cloud compute &amp; storage cost: ~$4.00 per 1M receipts.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  • Verification Gross Margin: &gt; 98%.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Scale Potential: 1 Tier-1 Card Network (50M checks/day) = $450k/yr in usage fees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FUTURE EVOLUTION  •  SLIDE 14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1726"/>
                </a:solidFill>
              </a:defRPr>
            </a:pPr>
            <a:r>
              <a:t>Strategic Roadmap &amp; Engineering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Transitioning from working prototype to production enterprise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VERITAS  |  Verifiable Evidence &amp; Registry for Integrity of Trusted AI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1: Native Hardware TEE Integration</a:t>
            </a:r>
          </a:p>
          <a:p>
            <a:pPr>
              <a:spcAft>
                <a:spcPts val="400"/>
              </a:spcAft>
              <a:defRPr sz="900" b="1">
                <a:solidFill>
                  <a:srgbClr val="2563EB"/>
                </a:solidFill>
              </a:defRPr>
            </a:pPr>
            <a:r>
              <a:t>[Hardware Production]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Integrate Gramine / Occlum for production Intel SGX/TDX enclaves.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Add AMD SEV-SNP and AWS Nitro Enclave cryptographic attestation document parsers.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Automate DCAP (Data Center Attestation Primitives) quote validation against Intel PCS.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2: Decentralized Multi-Witness Log</a:t>
            </a:r>
          </a:p>
          <a:p>
            <a:pPr>
              <a:spcAft>
                <a:spcPts val="400"/>
              </a:spcAft>
              <a:defRPr sz="900" b="1">
                <a:solidFill>
                  <a:srgbClr val="059669"/>
                </a:solidFill>
              </a:defRPr>
            </a:pPr>
            <a:r>
              <a:t>[Consortium Trust]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Implement multi-party consensus log cosigning (similar to Sigstore / Rekor).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Federate tree checkpoint signatures across auditing firms, regulatory sandboxes, and financial consortia.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Prevent single-party log censorship or key compromise.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3: Real-Time Drift Oracles</a:t>
            </a:r>
          </a:p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</a:defRPr>
            </a:pPr>
            <a:r>
              <a:t>[Continuous AI Ops]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Deploy autonomous canary workers continuously evaluating production latent embeddings.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Automatically flag subtle distribution shifts before they cause non-conformance.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Trigger automated selective revalidation suites on detected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1726"/>
                </a:solidFill>
              </a:defRPr>
            </a:pPr>
            <a:r>
              <a:t>Phase 4: On-Chain Smart Contract Verifier</a:t>
            </a:r>
          </a:p>
          <a:p>
            <a:pPr>
              <a:spcAft>
                <a:spcPts val="400"/>
              </a:spcAft>
              <a:defRPr sz="900" b="1">
                <a:solidFill>
                  <a:srgbClr val="0E1726"/>
                </a:solidFill>
              </a:defRPr>
            </a:pPr>
            <a:r>
              <a:t>[Web3 / Autonomous Agents]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Export Groth16 SNARK verifiers directly as Solidity smart contracts.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• Enable autonomous AI agents and DeFi lending pools to verify AI risk scores trustlessly on-chain.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32720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7706"/>
                </a:solidFill>
              </a:defRPr>
            </a:pPr>
            <a:r>
              <a:t>CONCLUSION &amp; THE CALL TO ACTION</a:t>
            </a:r>
          </a:p>
          <a:p>
            <a:pPr>
              <a:spcAft>
                <a:spcPts val="1400"/>
              </a:spcAft>
              <a:defRPr sz="2800" b="1">
                <a:solidFill>
                  <a:srgbClr val="0E1726"/>
                </a:solidFill>
              </a:defRPr>
            </a:pPr>
            <a:r>
              <a:t>Building the Verifiable Standard for AI in Finance</a:t>
            </a:r>
          </a:p>
          <a:p>
            <a:pPr>
              <a:spcAft>
                <a:spcPts val="1800"/>
              </a:spcAft>
              <a:defRPr sz="1200">
                <a:solidFill>
                  <a:srgbClr val="475569"/>
                </a:solidFill>
              </a:defRPr>
            </a:pPr>
            <a:r>
              <a:t>• Core Takeaway: VERITAS turns AI governance from subjective, slow PDF compliance into automated, cryptographically verifiable mathematical truth.</a:t>
            </a:r>
            <a:br/>
            <a:r>
              <a:t>• Validated Technology: Working end-to-end prototype with RFC 6962 transparency log, hardware attestation simulation, selective revalidation engine, and 15 automated attack test suites.</a:t>
            </a:r>
            <a:br/>
            <a:r>
              <a:t>• Performance Proven: Sub-2ms verification latency, 450-byte receipts, &gt;98% gross margins, zero blockchain baggage.</a:t>
            </a:r>
          </a:p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Our Collaboration Ask: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1. College Innovation Department: Joint academic research fellowship on formal verification of claim dependencies and hardware-accelerated ZK batching.</a:t>
            </a:r>
            <a:br/>
            <a:r>
              <a:t>2. FinTech Industry Partners: Sandbox pilot partnership to test VERITAS verification over high-volume credit risk or fraud scoring inference pipelines.</a:t>
            </a:r>
            <a:br/>
            <a:r>
              <a:t>3. Live Prototype Demo: Running live right now on localhost:5173. We invite the panel to test any attack scenario!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